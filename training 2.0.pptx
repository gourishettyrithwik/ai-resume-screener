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1" r:id="rId2"/>
    <p:sldId id="265" r:id="rId3"/>
    <p:sldId id="267" r:id="rId4"/>
    <p:sldId id="268" r:id="rId5"/>
    <p:sldId id="269" r:id="rId6"/>
    <p:sldId id="266" r:id="rId7"/>
    <p:sldId id="282" r:id="rId8"/>
    <p:sldId id="284" r:id="rId9"/>
    <p:sldId id="285" r:id="rId10"/>
    <p:sldId id="281" r:id="rId11"/>
    <p:sldId id="270"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29" autoAdjust="0"/>
    <p:restoredTop sz="94660"/>
  </p:normalViewPr>
  <p:slideViewPr>
    <p:cSldViewPr snapToGrid="0">
      <p:cViewPr varScale="1">
        <p:scale>
          <a:sx n="82" d="100"/>
          <a:sy n="82" d="100"/>
        </p:scale>
        <p:origin x="73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16-07-2026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16-07-2026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16-07-2026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16-07-2026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16-07-2026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16-07-2026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AI Based Resume Screening Web </a:t>
            </a:r>
            <a:r>
              <a:rPr lang="en-US"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Applicaton</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1.2411CS010202(G. Rithwik)</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2.2411CS010216(</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I.Seshasayee</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3.2411CS010399(</a:t>
            </a:r>
            <a:r>
              <a:rPr lang="en-IN" sz="1800" b="1"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N.Srikanth</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600" b="1" cap="none"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570229"/>
            <a:ext cx="6777990"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3" name="TextBox 2"/>
          <p:cNvSpPr txBox="1"/>
          <p:nvPr/>
        </p:nvSpPr>
        <p:spPr>
          <a:xfrm>
            <a:off x="2177934" y="1524000"/>
            <a:ext cx="9404465" cy="3693319"/>
          </a:xfrm>
          <a:prstGeom prst="rect">
            <a:avLst/>
          </a:prstGeom>
          <a:noFill/>
        </p:spPr>
        <p:txBody>
          <a:bodyPr wrap="square" rtlCol="0">
            <a:spAutoFit/>
          </a:bodyPr>
          <a:lstStyle/>
          <a:p>
            <a:pPr marL="285750" indent="-285750">
              <a:lnSpc>
                <a:spcPct val="200000"/>
              </a:lnSpc>
              <a:buClr>
                <a:schemeClr val="tx2"/>
              </a:buClr>
              <a:buFont typeface="Wingdings" panose="05000000000000000000" pitchFamily="2" charset="2"/>
              <a:buChar char="Ø"/>
            </a:pPr>
            <a:r>
              <a:rPr lang="en-IN" dirty="0"/>
              <a:t>Introduction</a:t>
            </a:r>
          </a:p>
          <a:p>
            <a:pPr marL="285750" indent="-285750">
              <a:lnSpc>
                <a:spcPct val="200000"/>
              </a:lnSpc>
              <a:buClr>
                <a:schemeClr val="tx2"/>
              </a:buClr>
              <a:buFont typeface="Wingdings" panose="05000000000000000000" pitchFamily="2" charset="2"/>
              <a:buChar char="Ø"/>
            </a:pPr>
            <a:r>
              <a:rPr lang="en-IN" dirty="0"/>
              <a:t>Literature Survey</a:t>
            </a:r>
          </a:p>
          <a:p>
            <a:pPr marL="285750" indent="-285750">
              <a:lnSpc>
                <a:spcPct val="200000"/>
              </a:lnSpc>
              <a:buClr>
                <a:schemeClr val="tx2"/>
              </a:buClr>
              <a:buFont typeface="Wingdings" panose="05000000000000000000" pitchFamily="2" charset="2"/>
              <a:buChar char="Ø"/>
            </a:pPr>
            <a:r>
              <a:rPr lang="en-IN" dirty="0"/>
              <a:t>Limitations of Existing Algorithms/Methodologies</a:t>
            </a:r>
          </a:p>
          <a:p>
            <a:pPr marL="285750" indent="-285750">
              <a:lnSpc>
                <a:spcPct val="200000"/>
              </a:lnSpc>
              <a:buClr>
                <a:schemeClr val="tx2"/>
              </a:buClr>
              <a:buFont typeface="Wingdings" panose="05000000000000000000" pitchFamily="2" charset="2"/>
              <a:buChar char="Ø"/>
            </a:pPr>
            <a:r>
              <a:rPr lang="en-IN" dirty="0"/>
              <a:t>Abstract</a:t>
            </a:r>
          </a:p>
          <a:p>
            <a:pPr marL="285750" indent="-285750">
              <a:lnSpc>
                <a:spcPct val="200000"/>
              </a:lnSpc>
              <a:buClr>
                <a:schemeClr val="tx2"/>
              </a:buClr>
              <a:buFont typeface="Wingdings" panose="05000000000000000000" pitchFamily="2" charset="2"/>
              <a:buChar char="Ø"/>
            </a:pPr>
            <a:r>
              <a:rPr lang="en-IN" dirty="0"/>
              <a:t>Screenshots of Working Model</a:t>
            </a:r>
          </a:p>
          <a:p>
            <a:pPr marL="285750" indent="-285750">
              <a:lnSpc>
                <a:spcPct val="200000"/>
              </a:lnSpc>
              <a:buClr>
                <a:schemeClr val="tx2"/>
              </a:buClr>
              <a:buFont typeface="Wingdings" panose="05000000000000000000" pitchFamily="2" charset="2"/>
              <a:buChar char="Ø"/>
            </a:pPr>
            <a:r>
              <a:rPr lang="en-IN" dirty="0"/>
              <a:t>Conclusion</a:t>
            </a:r>
          </a:p>
          <a:p>
            <a:endParaRPr lang="en-IN" dirty="0"/>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CE70C-D180-9A5D-3C2A-CB7D20A44220}"/>
              </a:ext>
            </a:extLst>
          </p:cNvPr>
          <p:cNvSpPr>
            <a:spLocks noGrp="1"/>
          </p:cNvSpPr>
          <p:nvPr>
            <p:ph type="title"/>
          </p:nvPr>
        </p:nvSpPr>
        <p:spPr/>
        <p:txBody>
          <a:bodyPr/>
          <a:lstStyle/>
          <a:p>
            <a:r>
              <a:rPr lang="en-US" dirty="0"/>
              <a:t>Introduction</a:t>
            </a:r>
            <a:endParaRPr lang="en-IN" dirty="0"/>
          </a:p>
        </p:txBody>
      </p:sp>
      <p:sp>
        <p:nvSpPr>
          <p:cNvPr id="5" name="Content Placeholder 4">
            <a:extLst>
              <a:ext uri="{FF2B5EF4-FFF2-40B4-BE49-F238E27FC236}">
                <a16:creationId xmlns:a16="http://schemas.microsoft.com/office/drawing/2014/main" id="{DF1C4FCC-CEDB-2ABD-75A7-0ED75D526280}"/>
              </a:ext>
            </a:extLst>
          </p:cNvPr>
          <p:cNvSpPr>
            <a:spLocks noGrp="1"/>
          </p:cNvSpPr>
          <p:nvPr>
            <p:ph idx="1"/>
          </p:nvPr>
        </p:nvSpPr>
        <p:spPr/>
        <p:txBody>
          <a:bodyPr>
            <a:normAutofit/>
          </a:bodyPr>
          <a:lstStyle/>
          <a:p>
            <a:r>
              <a:rPr lang="en-US" sz="2000" dirty="0"/>
              <a:t>The AI-Based Resume Screening Web Application is designed to automate the process of evaluating resumes during recruitment. In traditional hiring, recruiters manually review resumes, which is time-consuming and may lead to inconsistency. This system uses Machine Learning (ML) and Natural Language Processing (NLP) techniques to analyze resumes and compare them with job requirements.</a:t>
            </a:r>
          </a:p>
          <a:p>
            <a:endParaRPr lang="en-US" sz="2000" dirty="0"/>
          </a:p>
          <a:p>
            <a:pPr algn="just"/>
            <a:r>
              <a:rPr lang="en-US" sz="2000" dirty="0"/>
              <a:t>The system extracts relevant information such as skills, qualifications, and experience from resumes and evaluates their suitability for a given job role. This improves efficiency, accuracy, and reduces human effort in the recruitment process.</a:t>
            </a:r>
            <a:endParaRPr lang="en-IN" sz="2000" dirty="0"/>
          </a:p>
        </p:txBody>
      </p:sp>
    </p:spTree>
    <p:extLst>
      <p:ext uri="{BB962C8B-B14F-4D97-AF65-F5344CB8AC3E}">
        <p14:creationId xmlns:p14="http://schemas.microsoft.com/office/powerpoint/2010/main" val="3145885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835A8-4C06-B2D2-B9BD-6F1E6533052D}"/>
              </a:ext>
            </a:extLst>
          </p:cNvPr>
          <p:cNvSpPr>
            <a:spLocks noGrp="1"/>
          </p:cNvSpPr>
          <p:nvPr>
            <p:ph type="title"/>
          </p:nvPr>
        </p:nvSpPr>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0E785BB0-5F11-36A3-2EF6-75C5B98CC7B6}"/>
              </a:ext>
            </a:extLst>
          </p:cNvPr>
          <p:cNvSpPr>
            <a:spLocks noGrp="1"/>
          </p:cNvSpPr>
          <p:nvPr>
            <p:ph idx="1"/>
          </p:nvPr>
        </p:nvSpPr>
        <p:spPr/>
        <p:txBody>
          <a:bodyPr>
            <a:normAutofit/>
          </a:bodyPr>
          <a:lstStyle/>
          <a:p>
            <a:pPr marL="0" indent="0">
              <a:buNone/>
            </a:pPr>
            <a:r>
              <a:rPr lang="en-US" sz="2000" b="1" dirty="0"/>
              <a:t>Keyword-Based Systems : </a:t>
            </a:r>
            <a:r>
              <a:rPr lang="en-US" sz="2000" dirty="0"/>
              <a:t>These systems match resumes with job descriptions using simple keyword matching. However, they lack accuracy and fail to understand context.</a:t>
            </a:r>
          </a:p>
          <a:p>
            <a:pPr marL="0" indent="0">
              <a:buNone/>
            </a:pPr>
            <a:endParaRPr lang="en-US" sz="2000" dirty="0"/>
          </a:p>
          <a:p>
            <a:pPr marL="0" indent="0">
              <a:buNone/>
            </a:pPr>
            <a:r>
              <a:rPr lang="en-US" sz="2000" b="1" dirty="0"/>
              <a:t>Machine Learning-Based Systems : T</a:t>
            </a:r>
            <a:r>
              <a:rPr lang="en-US" sz="2000" dirty="0"/>
              <a:t>hese use algorithms like TF-IDF and classification models to improve matching accuracy.</a:t>
            </a:r>
          </a:p>
          <a:p>
            <a:pPr marL="0" indent="0">
              <a:buNone/>
            </a:pPr>
            <a:endParaRPr lang="en-US" sz="2000" dirty="0"/>
          </a:p>
          <a:p>
            <a:pPr marL="0" indent="0">
              <a:buNone/>
            </a:pPr>
            <a:r>
              <a:rPr lang="en-US" sz="2000" b="1" dirty="0"/>
              <a:t>NLP-Based Systems : </a:t>
            </a:r>
            <a:r>
              <a:rPr lang="en-US" sz="2000" dirty="0"/>
              <a:t>Advanced systems use NLP techniques to understand semantic meaning, improving the quality of matching.</a:t>
            </a:r>
          </a:p>
          <a:p>
            <a:pPr marL="0" indent="0">
              <a:buNone/>
            </a:pPr>
            <a:endParaRPr lang="en-US" sz="2000" b="1" dirty="0"/>
          </a:p>
          <a:p>
            <a:pPr marL="0" indent="0">
              <a:buNone/>
            </a:pPr>
            <a:endParaRPr lang="en-US" sz="1800" dirty="0"/>
          </a:p>
        </p:txBody>
      </p:sp>
    </p:spTree>
    <p:extLst>
      <p:ext uri="{BB962C8B-B14F-4D97-AF65-F5344CB8AC3E}">
        <p14:creationId xmlns:p14="http://schemas.microsoft.com/office/powerpoint/2010/main" val="991957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7632A-8ED5-6A2B-3FE8-B4179FA50F19}"/>
              </a:ext>
            </a:extLst>
          </p:cNvPr>
          <p:cNvSpPr>
            <a:spLocks noGrp="1"/>
          </p:cNvSpPr>
          <p:nvPr>
            <p:ph type="title"/>
          </p:nvPr>
        </p:nvSpPr>
        <p:spPr/>
        <p:txBody>
          <a:bodyPr/>
          <a:lstStyle/>
          <a:p>
            <a:r>
              <a:rPr lang="en-US" dirty="0"/>
              <a:t>Limitations of Existing System</a:t>
            </a:r>
            <a:endParaRPr lang="en-IN" dirty="0"/>
          </a:p>
        </p:txBody>
      </p:sp>
      <p:sp>
        <p:nvSpPr>
          <p:cNvPr id="3" name="Content Placeholder 2">
            <a:extLst>
              <a:ext uri="{FF2B5EF4-FFF2-40B4-BE49-F238E27FC236}">
                <a16:creationId xmlns:a16="http://schemas.microsoft.com/office/drawing/2014/main" id="{55CC5650-0274-5ED5-63EA-4789AA2DA911}"/>
              </a:ext>
            </a:extLst>
          </p:cNvPr>
          <p:cNvSpPr>
            <a:spLocks noGrp="1"/>
          </p:cNvSpPr>
          <p:nvPr>
            <p:ph idx="1"/>
          </p:nvPr>
        </p:nvSpPr>
        <p:spPr/>
        <p:txBody>
          <a:bodyPr>
            <a:normAutofit/>
          </a:bodyPr>
          <a:lstStyle/>
          <a:p>
            <a:r>
              <a:rPr lang="en-US" sz="2000" dirty="0"/>
              <a:t>Keyword matching does not understand context</a:t>
            </a:r>
          </a:p>
          <a:p>
            <a:r>
              <a:rPr lang="en-US" sz="2000" dirty="0"/>
              <a:t>High chances of missing relevant candidates</a:t>
            </a:r>
          </a:p>
          <a:p>
            <a:r>
              <a:rPr lang="en-US" sz="2000" dirty="0"/>
              <a:t>Cannot identify synonyms (e.g., “ML” vs “Machine Learning”)</a:t>
            </a:r>
          </a:p>
          <a:p>
            <a:r>
              <a:rPr lang="en-US" sz="2000" dirty="0"/>
              <a:t>Manual screening is time-consuming</a:t>
            </a:r>
          </a:p>
          <a:p>
            <a:r>
              <a:rPr lang="en-US" sz="2000" dirty="0"/>
              <a:t>Lack of scalability for large datasets</a:t>
            </a:r>
          </a:p>
          <a:p>
            <a:r>
              <a:rPr lang="en-US" sz="2000" dirty="0"/>
              <a:t>Some systems are biased or inconsistent</a:t>
            </a:r>
            <a:endParaRPr lang="en-IN" sz="2000" dirty="0"/>
          </a:p>
        </p:txBody>
      </p:sp>
    </p:spTree>
    <p:extLst>
      <p:ext uri="{BB962C8B-B14F-4D97-AF65-F5344CB8AC3E}">
        <p14:creationId xmlns:p14="http://schemas.microsoft.com/office/powerpoint/2010/main" val="1274506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00C5B-CC1F-D286-511A-C90FE4E8F4B4}"/>
              </a:ext>
            </a:extLst>
          </p:cNvPr>
          <p:cNvSpPr>
            <a:spLocks noGrp="1"/>
          </p:cNvSpPr>
          <p:nvPr>
            <p:ph type="title"/>
          </p:nvPr>
        </p:nvSpPr>
        <p:spPr/>
        <p:txBody>
          <a:bodyPr/>
          <a:lstStyle/>
          <a:p>
            <a:r>
              <a:rPr lang="en-US" dirty="0"/>
              <a:t>Abstract</a:t>
            </a:r>
            <a:endParaRPr lang="en-IN" dirty="0"/>
          </a:p>
        </p:txBody>
      </p:sp>
      <p:sp>
        <p:nvSpPr>
          <p:cNvPr id="4" name="TextBox 3">
            <a:extLst>
              <a:ext uri="{FF2B5EF4-FFF2-40B4-BE49-F238E27FC236}">
                <a16:creationId xmlns:a16="http://schemas.microsoft.com/office/drawing/2014/main" id="{ED90F337-ACE5-E888-4054-C3B62ECDFAE0}"/>
              </a:ext>
            </a:extLst>
          </p:cNvPr>
          <p:cNvSpPr txBox="1"/>
          <p:nvPr/>
        </p:nvSpPr>
        <p:spPr>
          <a:xfrm>
            <a:off x="609600" y="1582341"/>
            <a:ext cx="10972800" cy="2554545"/>
          </a:xfrm>
          <a:prstGeom prst="rect">
            <a:avLst/>
          </a:prstGeom>
          <a:noFill/>
        </p:spPr>
        <p:txBody>
          <a:bodyPr wrap="square">
            <a:spAutoFit/>
          </a:bodyPr>
          <a:lstStyle/>
          <a:p>
            <a:pPr algn="just"/>
            <a:r>
              <a:rPr lang="en-IN" sz="2000" dirty="0"/>
              <a:t>The AI-Based Resume Screening System is designed to automate the process of evaluating candidate resumes for specific job roles. The system </a:t>
            </a:r>
            <a:r>
              <a:rPr lang="en-IN" sz="2000" dirty="0" err="1"/>
              <a:t>analyzes</a:t>
            </a:r>
            <a:r>
              <a:rPr lang="en-IN" sz="2000" dirty="0"/>
              <a:t> the content of a resume and identifies relevant skills and qualifications. It then compares these with predefined job requirements to determine the suitability of the candidate. Using an intelligent keyword matching approach, the system classifies resumes as suitable or not suitable for the selected role. This reduces manual effort and improves consistency in the screening process. The system helps in quickly identifying candidates who meet the required criteria, enabling a more efficient and structured recruitment process through automated decision-making.</a:t>
            </a:r>
          </a:p>
        </p:txBody>
      </p:sp>
    </p:spTree>
    <p:extLst>
      <p:ext uri="{BB962C8B-B14F-4D97-AF65-F5344CB8AC3E}">
        <p14:creationId xmlns:p14="http://schemas.microsoft.com/office/powerpoint/2010/main" val="3197436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300E-0F34-78FD-A31E-DDE7A4786BED}"/>
              </a:ext>
            </a:extLst>
          </p:cNvPr>
          <p:cNvSpPr>
            <a:spLocks noGrp="1"/>
          </p:cNvSpPr>
          <p:nvPr>
            <p:ph type="title"/>
          </p:nvPr>
        </p:nvSpPr>
        <p:spPr>
          <a:xfrm>
            <a:off x="609600" y="624840"/>
            <a:ext cx="10972800" cy="990600"/>
          </a:xfrm>
        </p:spPr>
        <p:txBody>
          <a:bodyPr>
            <a:normAutofit fontScale="90000"/>
          </a:bodyPr>
          <a:lstStyle/>
          <a:p>
            <a:r>
              <a:rPr lang="en-US" dirty="0"/>
              <a:t>Screenshots Of Working Model</a:t>
            </a:r>
            <a:br>
              <a:rPr lang="en-US" dirty="0"/>
            </a:br>
            <a:r>
              <a:rPr lang="en-US" sz="2200" b="1" dirty="0">
                <a:solidFill>
                  <a:schemeClr val="tx1"/>
                </a:solidFill>
              </a:rPr>
              <a:t>Resume Upload Page</a:t>
            </a:r>
            <a:br>
              <a:rPr lang="en-IN" sz="2200" b="1" dirty="0">
                <a:solidFill>
                  <a:schemeClr val="tx1"/>
                </a:solidFill>
              </a:rPr>
            </a:br>
            <a:endParaRPr lang="en-IN" sz="2200" b="1" dirty="0">
              <a:solidFill>
                <a:schemeClr val="tx1"/>
              </a:solidFill>
            </a:endParaRPr>
          </a:p>
        </p:txBody>
      </p:sp>
      <p:pic>
        <p:nvPicPr>
          <p:cNvPr id="7" name="Content Placeholder 6">
            <a:extLst>
              <a:ext uri="{FF2B5EF4-FFF2-40B4-BE49-F238E27FC236}">
                <a16:creationId xmlns:a16="http://schemas.microsoft.com/office/drawing/2014/main" id="{87DBF4B2-4084-C2C6-66B9-065D6B5D8F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5680" y="1926676"/>
            <a:ext cx="8002270" cy="4412211"/>
          </a:xfrm>
          <a:prstGeom prst="rect">
            <a:avLst/>
          </a:prstGeom>
        </p:spPr>
      </p:pic>
    </p:spTree>
    <p:extLst>
      <p:ext uri="{BB962C8B-B14F-4D97-AF65-F5344CB8AC3E}">
        <p14:creationId xmlns:p14="http://schemas.microsoft.com/office/powerpoint/2010/main" val="4164591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9B648-A53E-75F9-2EB5-7F4B09C63AA8}"/>
              </a:ext>
            </a:extLst>
          </p:cNvPr>
          <p:cNvSpPr>
            <a:spLocks noGrp="1"/>
          </p:cNvSpPr>
          <p:nvPr>
            <p:ph type="title"/>
          </p:nvPr>
        </p:nvSpPr>
        <p:spPr/>
        <p:txBody>
          <a:bodyPr>
            <a:normAutofit/>
          </a:bodyPr>
          <a:lstStyle/>
          <a:p>
            <a:r>
              <a:rPr lang="en-US" sz="2000" b="1" dirty="0">
                <a:solidFill>
                  <a:schemeClr val="tx1"/>
                </a:solidFill>
              </a:rPr>
              <a:t>Career Analysis Dashboard</a:t>
            </a:r>
            <a:endParaRPr lang="en-IN" sz="2000" b="1" dirty="0">
              <a:solidFill>
                <a:schemeClr val="tx1"/>
              </a:solidFill>
            </a:endParaRPr>
          </a:p>
        </p:txBody>
      </p:sp>
      <p:pic>
        <p:nvPicPr>
          <p:cNvPr id="5" name="Content Placeholder 4">
            <a:extLst>
              <a:ext uri="{FF2B5EF4-FFF2-40B4-BE49-F238E27FC236}">
                <a16:creationId xmlns:a16="http://schemas.microsoft.com/office/drawing/2014/main" id="{57103D20-AC46-1C6B-4309-277333810D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4050" y="1828800"/>
            <a:ext cx="8343900" cy="4419600"/>
          </a:xfrm>
          <a:prstGeom prst="rect">
            <a:avLst/>
          </a:prstGeom>
        </p:spPr>
      </p:pic>
    </p:spTree>
    <p:extLst>
      <p:ext uri="{BB962C8B-B14F-4D97-AF65-F5344CB8AC3E}">
        <p14:creationId xmlns:p14="http://schemas.microsoft.com/office/powerpoint/2010/main" val="188737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9D5DC-8B7D-5D4F-5555-0EF806BEB4AD}"/>
              </a:ext>
            </a:extLst>
          </p:cNvPr>
          <p:cNvSpPr>
            <a:spLocks noGrp="1"/>
          </p:cNvSpPr>
          <p:nvPr>
            <p:ph type="title"/>
          </p:nvPr>
        </p:nvSpPr>
        <p:spPr/>
        <p:txBody>
          <a:bodyPr>
            <a:normAutofit/>
          </a:bodyPr>
          <a:lstStyle/>
          <a:p>
            <a:r>
              <a:rPr lang="en-US" sz="2000" b="1" dirty="0">
                <a:solidFill>
                  <a:schemeClr val="tx1"/>
                </a:solidFill>
              </a:rPr>
              <a:t>Career Analysis Dashboard</a:t>
            </a:r>
            <a:endParaRPr lang="en-IN" sz="2000" b="1" dirty="0">
              <a:solidFill>
                <a:schemeClr val="tx1"/>
              </a:solidFill>
            </a:endParaRPr>
          </a:p>
        </p:txBody>
      </p:sp>
      <p:pic>
        <p:nvPicPr>
          <p:cNvPr id="5" name="Content Placeholder 4">
            <a:extLst>
              <a:ext uri="{FF2B5EF4-FFF2-40B4-BE49-F238E27FC236}">
                <a16:creationId xmlns:a16="http://schemas.microsoft.com/office/drawing/2014/main" id="{4C3AD8AB-6833-FF81-6837-B0EE8A8DFBD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1187" y="1838325"/>
            <a:ext cx="8429625" cy="4400550"/>
          </a:xfrm>
          <a:prstGeom prst="rect">
            <a:avLst/>
          </a:prstGeom>
        </p:spPr>
      </p:pic>
    </p:spTree>
    <p:extLst>
      <p:ext uri="{BB962C8B-B14F-4D97-AF65-F5344CB8AC3E}">
        <p14:creationId xmlns:p14="http://schemas.microsoft.com/office/powerpoint/2010/main" val="252170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B2A02-198A-116F-2052-BF9CD87D7232}"/>
              </a:ext>
            </a:extLst>
          </p:cNvPr>
          <p:cNvSpPr>
            <a:spLocks noGrp="1"/>
          </p:cNvSpPr>
          <p:nvPr>
            <p:ph type="title"/>
          </p:nvPr>
        </p:nvSpPr>
        <p:spPr/>
        <p:txBody>
          <a:bodyPr/>
          <a:lstStyle/>
          <a:p>
            <a:r>
              <a:rPr lang="en-US" dirty="0"/>
              <a:t>Results</a:t>
            </a:r>
            <a:endParaRPr lang="en-IN" dirty="0"/>
          </a:p>
        </p:txBody>
      </p:sp>
      <p:sp>
        <p:nvSpPr>
          <p:cNvPr id="3" name="Content Placeholder 2">
            <a:extLst>
              <a:ext uri="{FF2B5EF4-FFF2-40B4-BE49-F238E27FC236}">
                <a16:creationId xmlns:a16="http://schemas.microsoft.com/office/drawing/2014/main" id="{E48DE388-8430-FDD8-44CF-122C7BD05625}"/>
              </a:ext>
            </a:extLst>
          </p:cNvPr>
          <p:cNvSpPr>
            <a:spLocks noGrp="1"/>
          </p:cNvSpPr>
          <p:nvPr>
            <p:ph idx="1"/>
          </p:nvPr>
        </p:nvSpPr>
        <p:spPr/>
        <p:txBody>
          <a:bodyPr>
            <a:normAutofit/>
          </a:bodyPr>
          <a:lstStyle/>
          <a:p>
            <a:pPr algn="just"/>
            <a:r>
              <a:rPr lang="en-US" sz="2000" dirty="0"/>
              <a:t>The AI-Based Resume Screening Web Application provides an effective solution to automate the traditionally time-consuming process of resume evaluation. By leveraging machine learning techniques, the system minimizes manual effort and speeds up the recruitment workflow. This automation not only saves time for recruiters but also allows them to focus on more strategic decision-making tasks.</a:t>
            </a:r>
          </a:p>
          <a:p>
            <a:pPr algn="just"/>
            <a:r>
              <a:rPr lang="en-US" sz="2000" dirty="0"/>
              <a:t>Furthermore, the project demonstrates the practical application of artificial intelligence in improving modern recruitment processes. It highlights how machine learning can be integrated into real-world systems to enhance efficiency, scalability, and accuracy in decision-making.</a:t>
            </a:r>
            <a:endParaRPr lang="en-IN" sz="2000" dirty="0"/>
          </a:p>
        </p:txBody>
      </p:sp>
    </p:spTree>
    <p:extLst>
      <p:ext uri="{BB962C8B-B14F-4D97-AF65-F5344CB8AC3E}">
        <p14:creationId xmlns:p14="http://schemas.microsoft.com/office/powerpoint/2010/main" val="313378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071A7-0231-0693-AD00-D8C759A0EC16}"/>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AF59D9EB-5BE0-399B-43F4-3B429DD9F302}"/>
              </a:ext>
            </a:extLst>
          </p:cNvPr>
          <p:cNvSpPr>
            <a:spLocks noGrp="1"/>
          </p:cNvSpPr>
          <p:nvPr>
            <p:ph idx="1"/>
          </p:nvPr>
        </p:nvSpPr>
        <p:spPr/>
        <p:txBody>
          <a:bodyPr>
            <a:normAutofit/>
          </a:bodyPr>
          <a:lstStyle/>
          <a:p>
            <a:r>
              <a:rPr lang="en-US" sz="2000" dirty="0"/>
              <a:t>The AI-Based Resume Screening Web Application successfully automates the process of resume evaluation using machine learning techniques. It reduces manual effort, increases efficiency, and ensures consistent candidate selection. By using techniques like TF-IDF and cosine similarity, the system accurately matches resumes with job descriptions.</a:t>
            </a:r>
          </a:p>
          <a:p>
            <a:r>
              <a:rPr lang="en-US" sz="2000" dirty="0"/>
              <a:t>This project demonstrates how AI can improve recruitment processes and can be further enhanced using advanced NLP models and real-time integration with job portals.</a:t>
            </a:r>
            <a:endParaRPr lang="en-IN" sz="2000" dirty="0"/>
          </a:p>
        </p:txBody>
      </p:sp>
    </p:spTree>
    <p:extLst>
      <p:ext uri="{BB962C8B-B14F-4D97-AF65-F5344CB8AC3E}">
        <p14:creationId xmlns:p14="http://schemas.microsoft.com/office/powerpoint/2010/main" val="713778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2800" b="1" dirty="0">
                <a:solidFill>
                  <a:schemeClr val="tx1"/>
                </a:solidFill>
                <a:latin typeface="Calibri" panose="020F0502020204030204" pitchFamily="34" charset="0"/>
                <a:cs typeface="Calibri" panose="020F0502020204030204" pitchFamily="34" charset="0"/>
              </a:rPr>
              <a:t>THANK YOU</a:t>
            </a:r>
            <a:endParaRPr lang="en-IN"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413</TotalTime>
  <Words>669</Words>
  <Application>Microsoft Office PowerPoint</Application>
  <PresentationFormat>Widescreen</PresentationFormat>
  <Paragraphs>40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Clarity</vt:lpstr>
      <vt:lpstr>                                                                                                  Department of Computer Science &amp; Engineering                                                                   AI Based Resume Screening Web Applicaton                                                                                                                                                                                                                                                                                        1.2411CS010202(G. Rithwik)                                                                                                                                                                                          2.2411CS010216(I.Seshasayee)                                                                                        3.2411CS010399(N.Srikanth)                       </vt:lpstr>
      <vt:lpstr>Table of Contents</vt:lpstr>
      <vt:lpstr>Introduction</vt:lpstr>
      <vt:lpstr>Literature Survey</vt:lpstr>
      <vt:lpstr>Limitations of Existing System</vt:lpstr>
      <vt:lpstr>Abstract</vt:lpstr>
      <vt:lpstr>Screenshots Of Working Model Resume Upload Page </vt:lpstr>
      <vt:lpstr>Career Analysis Dashboard</vt:lpstr>
      <vt:lpstr>Career Analysis Dashboard</vt:lpstr>
      <vt:lpstr>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gourishetty rithwik</cp:lastModifiedBy>
  <cp:revision>47</cp:revision>
  <dcterms:created xsi:type="dcterms:W3CDTF">2021-11-21T08:56:41Z</dcterms:created>
  <dcterms:modified xsi:type="dcterms:W3CDTF">2026-07-16T09:24:06Z</dcterms:modified>
</cp:coreProperties>
</file>